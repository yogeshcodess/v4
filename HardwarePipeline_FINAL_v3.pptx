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7160" y="128016"/>
            <a:ext cx="3840480" cy="310896"/>
          </a:xfrm>
          <a:prstGeom prst="rect">
            <a:avLst/>
          </a:prstGeom>
          <a:solidFill>
            <a:srgbClr val="1E2D42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" y="1280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PATTERNS INDIA  ·  GREAT AI HACK-A-THON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" y="5943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" y="1691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029200" y="566928"/>
            <a:ext cx="658368" cy="32918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5669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" y="2999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End-to-End Hardware Design Automation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" y="3493008"/>
            <a:ext cx="5577840" cy="20117"/>
          </a:xfrm>
          <a:prstGeom prst="rect">
            <a:avLst/>
          </a:prstGeom>
          <a:solidFill>
            <a:srgbClr val="00C6A7">
              <a:alpha val="50000"/>
            </a:srgbClr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" y="3657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37160" y="4187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657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60020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~32 min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46120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KNIGHTS  ·  DATA PATTERNS INDIA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PHASES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512064"/>
            <a:ext cx="34747" cy="40233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63056" y="5212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63056" y="7132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Requirements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530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1069848"/>
            <a:ext cx="34747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63056" y="107899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63056" y="12710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Document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1088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1627632"/>
            <a:ext cx="34747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63056" y="16367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3056" y="18288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1645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2185416"/>
            <a:ext cx="34747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63056" y="21945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23865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 Generation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22037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2743200"/>
            <a:ext cx="34747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163056" y="27523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63056" y="29443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2761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300984"/>
            <a:ext cx="34747" cy="40233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63056" y="331012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63056" y="35021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GLR Specification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3319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80760" y="3858768"/>
            <a:ext cx="34747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163056" y="3867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63056" y="40599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Design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3877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0760" y="4416552"/>
            <a:ext cx="34747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163056" y="442569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63056" y="46177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Code Gen + Qt GUI + CI/CD -&gt; Git PR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434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Hardware Design Gap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1521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uses different tools, different experts, and zero shared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53949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600200"/>
            <a:ext cx="36576" cy="96012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91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Design Cycles Take Months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A single hardware design — from requirements to production-ready firmware — takes 12–18 months. Documentation alone consumes 40% of engineer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53949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2697480"/>
            <a:ext cx="36576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Component Selection Has No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search DigiKey/Mouser, cross-check datasheets, and pick components with no BOM automation or trade-off analysis.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53949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3794760"/>
            <a:ext cx="36576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886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Standards Compliance is Manual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RoHS, MIL-STD-461/810, MISRA-C, IEEE 29148 — checked by hand. Errors found late cost ₹42L+ per rework cycle.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REALITY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883664"/>
            <a:ext cx="2926080" cy="2743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89320" y="1920240"/>
            <a:ext cx="292608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80760" y="20116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12–18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08076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633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hardware design cycle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944368"/>
            <a:ext cx="292608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080760" y="3035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080760" y="3474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657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documentation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968496"/>
            <a:ext cx="292608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80760" y="40599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₹42L+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080760" y="4498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4681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compliance errors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PROPOSED SOLUTION &amp;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Conversation. Complete Hardware Design.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97764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078992"/>
            <a:ext cx="36576" cy="6583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43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353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 UI  ·  Live Mermaid diagrams  ·  DOCX downloads  ·  Real-time flow panel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397764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63440" y="1078992"/>
            <a:ext cx="36576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73168" y="1143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FASTAPI BACKEND 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73168" y="1353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9 AI agents  ·  SQLite  ·  Anthropic-compatible LLM  ·  Swagger docs  ·  CORS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33088" y="1307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HTTP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65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1920240" cy="804672"/>
          </a:xfrm>
          <a:prstGeom prst="rect">
            <a:avLst/>
          </a:prstGeom>
          <a:solidFill>
            <a:srgbClr val="0A3D35"/>
          </a:solidFill>
          <a:ln w="9525">
            <a:solidFill>
              <a:srgbClr val="00C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121408"/>
            <a:ext cx="1920240" cy="4572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243230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Requirements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" y="2734056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49424" y="2523744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350008" y="2121408"/>
            <a:ext cx="1920240" cy="804672"/>
          </a:xfrm>
          <a:prstGeom prst="rect">
            <a:avLst/>
          </a:prstGeom>
          <a:solidFill>
            <a:srgbClr val="0F2744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350008" y="2121408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441448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243230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Document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2734056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79392" y="2523744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379976" y="2121408"/>
            <a:ext cx="1920240" cy="804672"/>
          </a:xfrm>
          <a:prstGeom prst="rect">
            <a:avLst/>
          </a:prstGeom>
          <a:solidFill>
            <a:srgbClr val="3D2800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79976" y="2121408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71416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53128" y="243230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53128" y="2734056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2523744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9944" y="2121408"/>
            <a:ext cx="1920240" cy="804672"/>
          </a:xfrm>
          <a:prstGeom prst="rect">
            <a:avLst/>
          </a:prstGeom>
          <a:solidFill>
            <a:srgbClr val="1E1040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9944" y="2121408"/>
            <a:ext cx="19202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01384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83096" y="243230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 Generation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83096" y="2734056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2724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continues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1920240" cy="804672"/>
          </a:xfrm>
          <a:prstGeom prst="rect">
            <a:avLst/>
          </a:prstGeom>
          <a:solidFill>
            <a:srgbClr val="1A2030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0040" y="3090672"/>
            <a:ext cx="1920240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148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3192" y="3401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3192" y="3703320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49424" y="349300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350008" y="3090672"/>
            <a:ext cx="1920240" cy="804672"/>
          </a:xfrm>
          <a:prstGeom prst="rect">
            <a:avLst/>
          </a:prstGeom>
          <a:solidFill>
            <a:srgbClr val="0A3D35"/>
          </a:solidFill>
          <a:ln w="9525">
            <a:solidFill>
              <a:srgbClr val="00C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350008" y="3090672"/>
            <a:ext cx="1920240" cy="4572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441448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423160" y="3401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GLR Specification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23160" y="3703320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279392" y="349300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379976" y="3090672"/>
            <a:ext cx="1920240" cy="804672"/>
          </a:xfrm>
          <a:prstGeom prst="rect">
            <a:avLst/>
          </a:prstGeom>
          <a:solidFill>
            <a:srgbClr val="1A2030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379976" y="3090672"/>
            <a:ext cx="1920240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471416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453128" y="3401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Design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453128" y="3703320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09360" y="3493008"/>
            <a:ext cx="914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09944" y="3090672"/>
            <a:ext cx="1920240" cy="804672"/>
          </a:xfrm>
          <a:prstGeom prst="rect">
            <a:avLst/>
          </a:prstGeom>
          <a:solidFill>
            <a:srgbClr val="0F2744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409944" y="3090672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501384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P8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483096" y="3401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+ Code Review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83096" y="3703320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" y="4133088"/>
            <a:ext cx="2743200" cy="822960"/>
          </a:xfrm>
          <a:prstGeom prst="rect">
            <a:avLst/>
          </a:prstGeom>
          <a:solidFill>
            <a:srgbClr val="1E2D42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5720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Docs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457200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IEEE/MISRA-grade docs per project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64408" y="4133088"/>
            <a:ext cx="2743200" cy="822960"/>
          </a:xfrm>
          <a:prstGeom prst="rect">
            <a:avLst/>
          </a:prstGeom>
          <a:solidFill>
            <a:srgbClr val="1E2D42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401568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Agents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3401568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Domain-specialized AI agents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08776" y="4133088"/>
            <a:ext cx="2743200" cy="822960"/>
          </a:xfrm>
          <a:prstGeom prst="rect">
            <a:avLst/>
          </a:prstGeom>
          <a:solidFill>
            <a:srgbClr val="1E2D42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345936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~32 min</a:t>
            </a:r>
            <a:endParaRPr lang="en-US" sz="2400" dirty="0"/>
          </a:p>
        </p:txBody>
      </p:sp>
      <p:sp>
        <p:nvSpPr>
          <p:cNvPr id="69" name="Text 67"/>
          <p:cNvSpPr/>
          <p:nvPr/>
        </p:nvSpPr>
        <p:spPr>
          <a:xfrm>
            <a:off x="634593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 vs weeks of manual work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AI TECHNOLOGY STACK &amp;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Reason About Real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" cy="56692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78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GLM-4.7 via Z.AI  (Anthropic-compatible endpoint)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682496"/>
            <a:ext cx="36576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Uvicorn  ·  SQLAlchemy  ·  SQLite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40864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" y="2340864"/>
            <a:ext cx="36576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15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TypeScript  ·  Vite  ·  Inline bundle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" y="2999232"/>
            <a:ext cx="3657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Python agents  ·  ThreadPoolExecutor  ·  Tenacity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20040" y="3657600"/>
            <a:ext cx="36576" cy="56692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 ·  Mermaid.js  ·  INSTALL.bat  ·  MISRA-C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1024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307592"/>
            <a:ext cx="4297680" cy="2743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0" y="1389888"/>
            <a:ext cx="2057400" cy="1536192"/>
          </a:xfrm>
          <a:prstGeom prst="rect">
            <a:avLst/>
          </a:prstGeom>
          <a:solidFill>
            <a:srgbClr val="1E2D42"/>
          </a:solidFill>
          <a:ln w="9525">
            <a:solidFill>
              <a:srgbClr val="00C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0" y="1389888"/>
            <a:ext cx="2057400" cy="3657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81728" y="1481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81728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21396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domain-specialized agents. Up to 5 continuation passes each — ensuring full IEEE-grade documents even with token limits.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84848" y="1389888"/>
            <a:ext cx="2057400" cy="1536192"/>
          </a:xfrm>
          <a:prstGeom prst="rect">
            <a:avLst/>
          </a:prstGeom>
          <a:solidFill>
            <a:srgbClr val="1E2D42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784848" y="1389888"/>
            <a:ext cx="2057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94576" y="1481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94576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 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21396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Friis cascade RF math, IEEE 29148 HRS, IEEE 1016 SDD, MISRA-C — real engineering standards baked into every agent.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3054096"/>
            <a:ext cx="2057400" cy="1536192"/>
          </a:xfrm>
          <a:prstGeom prst="rect">
            <a:avLst/>
          </a:prstGeom>
          <a:solidFill>
            <a:srgbClr val="1E2D42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72000" y="3054096"/>
            <a:ext cx="2057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681728" y="31455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681728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Standards Check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81728" y="38039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Compliance runs RoHS/REACH/FCC/MIL-STD on every BOM. P8c flags MISRA-C violations with severity + fix suggestions.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84848" y="3054096"/>
            <a:ext cx="2057400" cy="1536192"/>
          </a:xfrm>
          <a:prstGeom prst="rect">
            <a:avLst/>
          </a:prstGeom>
          <a:solidFill>
            <a:srgbClr val="1E2D42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784848" y="3054096"/>
            <a:ext cx="20574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94576" y="31455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94576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94576" y="38039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bundle is a single ASCII-safe HTML file. One INSTALL.bat sets up Python, starts FastAPI, and opens the browser.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EXPECTED OUTCOMES &amp; DEMO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Become Minutes. Specs Become Documents.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92024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932688"/>
            <a:ext cx="1920240" cy="4572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005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doc time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current manual process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50592" y="932688"/>
            <a:ext cx="192024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50592" y="932688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450592" y="1005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IEEE/MISRA docs per project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591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· SRS · SDD · netlist…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932688"/>
            <a:ext cx="192024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81144" y="932688"/>
            <a:ext cx="19202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81144" y="1005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81144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TBD/TBC/TBA in any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81144" y="1591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generated content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11696" y="932688"/>
            <a:ext cx="192024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711696" y="932688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11696" y="1005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11696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11696" y="1591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local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1975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  (3 min)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267712"/>
            <a:ext cx="41148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" y="2267712"/>
            <a:ext cx="402336" cy="713232"/>
          </a:xfrm>
          <a:prstGeom prst="rect">
            <a:avLst/>
          </a:prstGeom>
          <a:solidFill>
            <a:srgbClr val="00C6A7">
              <a:alpha val="80000"/>
            </a:srgbClr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0040" y="2267712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23591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— RF Amplifier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26334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project, pick RF type. AI asks about frequency, gain, topology.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072384"/>
            <a:ext cx="41148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20040" y="3072384"/>
            <a:ext cx="402336" cy="713232"/>
          </a:xfrm>
          <a:prstGeom prst="rect">
            <a:avLst/>
          </a:prstGeom>
          <a:solidFill>
            <a:srgbClr val="00C6A7">
              <a:alpha val="80000"/>
            </a:srgbClr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20040" y="3072384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2960" y="31638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P1 — Requirements Capture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BOM + block diagram + Gain-Loss Budget + power calcs.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877056"/>
            <a:ext cx="41148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20040" y="3877056"/>
            <a:ext cx="402336" cy="713232"/>
          </a:xfrm>
          <a:prstGeom prst="rect">
            <a:avLst/>
          </a:prstGeom>
          <a:solidFill>
            <a:srgbClr val="00C6A7">
              <a:alpha val="80000"/>
            </a:srgbClr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0040" y="3877056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22960" y="39684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P2 → P8 Cascade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242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HRS, Compliance, Netlist, GLR, SRS, SDD, Code Review — ~32 min.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1975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267712"/>
            <a:ext cx="41148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709160" y="2267712"/>
            <a:ext cx="4114800" cy="274320"/>
          </a:xfrm>
          <a:prstGeom prst="rect">
            <a:avLst/>
          </a:prstGeom>
          <a:solidFill>
            <a:srgbClr val="00C6A7">
              <a:alpha val="75000"/>
            </a:srgbClr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0060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DELIVERED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2560320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t>11-phase AI pipeline — fully operational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V5 three-panel UI with live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29148, 830, 1016, MISRA-C compliance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INSTALL.bat deployment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712464"/>
            <a:ext cx="411480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709160" y="3712464"/>
            <a:ext cx="4114800" cy="27432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00600" y="3712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Q2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00507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streaming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outputs as ZIP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stale phases — one click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882896"/>
            <a:ext cx="411480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709160" y="4882896"/>
            <a:ext cx="4114800" cy="27432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800600" y="4882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Q3 2026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517550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version history + diffs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dependency DAG (P1 to P8)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dashboard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35"/>
          </a:solidFill>
          <a:ln w="12700">
            <a:solidFill>
              <a:srgbClr val="00C6A7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Pipeline V2  ·  Code Knights  ·  Data Patterns India  ·  Great AI Hack-A-Thon 2026  —  github.com/bala9066/AI_S2S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Pipeline V2 — Code Knights — Data Patterns AI Hack-A-Thon 2026</dc:title>
  <dc:subject>PptxGenJS Presentation</dc:subject>
  <dc:creator>Team Code Knights</dc:creator>
  <cp:lastModifiedBy>Team Code Knights</cp:lastModifiedBy>
  <cp:revision>1</cp:revision>
  <dcterms:created xsi:type="dcterms:W3CDTF">2026-04-07T04:30:59Z</dcterms:created>
  <dcterms:modified xsi:type="dcterms:W3CDTF">2026-04-07T04:30:59Z</dcterms:modified>
</cp:coreProperties>
</file>